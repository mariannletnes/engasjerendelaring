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73152"/>
            <a:ext cx="12045391" cy="6711696"/>
          </a:xfrm>
          <a:prstGeom prst="rect">
            <a:avLst/>
          </a:prstGeom>
          <a:solidFill>
            <a:srgbClr val="F7F6F4">
              <a:alpha val="0"/>
            </a:srgbClr>
          </a:solidFill>
          <a:ln w="25400">
            <a:solidFill>
              <a:srgbClr val="6C63D9">
                <a:alpha val="5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029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225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 deltakelse til dialog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124712"/>
            <a:ext cx="2240280" cy="32004"/>
          </a:xfrm>
          <a:prstGeom prst="rect">
            <a:avLst/>
          </a:prstGeom>
          <a:solidFill>
            <a:srgbClr val="C95C3D"/>
          </a:solidFill>
          <a:ln w="12700">
            <a:solidFill>
              <a:srgbClr val="C95C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5331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37780"/>
                </a:solidFill>
              </a:rPr>
              <a:t>Nå forlater vi spørsmålet om tegn på engasjement. Vi undersøker hva samtalen gjør mulig.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3383280" cy="2468880"/>
          </a:xfrm>
          <a:prstGeom prst="rect">
            <a:avLst/>
          </a:prstGeom>
          <a:solidFill>
            <a:srgbClr val="FFFFFF"/>
          </a:solidFill>
          <a:ln w="15240">
            <a:solidFill>
              <a:srgbClr val="D7D1CB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252E"/>
                </a:solidFill>
              </a:rPr>
              <a:t>Aktiv deltakelse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22252E"/>
                </a:solidFill>
              </a:rPr>
              <a:t>er ikke det samme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22252E"/>
                </a:solidFill>
              </a:rPr>
              <a:t>som dialog.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617720" y="1874520"/>
            <a:ext cx="3063240" cy="1143000"/>
          </a:xfrm>
          <a:prstGeom prst="rect">
            <a:avLst/>
          </a:prstGeom>
          <a:solidFill>
            <a:srgbClr val="E4F5F4"/>
          </a:solidFill>
          <a:ln w="15240">
            <a:solidFill>
              <a:srgbClr val="2CA7A3"/>
            </a:solidFill>
          </a:ln>
        </p:spPr>
        <p:txBody>
          <a:bodyPr wrap="square" lIns="2159" tIns="2159" rIns="2159" bIns="2159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2252E"/>
                </a:solidFill>
              </a:rPr>
              <a:t>Deltakernes erfaringer, spørsmål og fortolkninger må få plass.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17720" y="3246120"/>
            <a:ext cx="3063240" cy="1143000"/>
          </a:xfrm>
          <a:prstGeom prst="rect">
            <a:avLst/>
          </a:prstGeom>
          <a:solidFill>
            <a:srgbClr val="FCEAF3"/>
          </a:solidFill>
          <a:ln w="15240">
            <a:solidFill>
              <a:srgbClr val="D65BA0"/>
            </a:solidFill>
          </a:ln>
        </p:spPr>
        <p:txBody>
          <a:bodyPr wrap="square" lIns="2159" tIns="2159" rIns="2159" bIns="2159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2252E"/>
                </a:solidFill>
              </a:rPr>
              <a:t>Bidragene må bety noe for hvordan samtalen utvikler seg.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046720" y="1874520"/>
            <a:ext cx="3246120" cy="2514600"/>
          </a:xfrm>
          <a:prstGeom prst="rect">
            <a:avLst/>
          </a:prstGeom>
          <a:solidFill>
            <a:srgbClr val="FFF6D5"/>
          </a:solidFill>
          <a:ln w="15240">
            <a:solidFill>
              <a:srgbClr val="F0BF00"/>
            </a:solidFill>
          </a:ln>
        </p:spPr>
        <p:txBody>
          <a:bodyPr wrap="square" lIns="2794" tIns="2794" rIns="2794" bIns="2794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22252E"/>
                </a:solidFill>
              </a:rPr>
              <a:t>Spørsmålet er derfor ikke bare om deltakerne snakker, men hva samtalen gjør mulig.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0120" y="5074920"/>
            <a:ext cx="10287000" cy="685800"/>
          </a:xfrm>
          <a:prstGeom prst="rect">
            <a:avLst/>
          </a:prstGeom>
          <a:solidFill>
            <a:srgbClr val="EBE7E2"/>
          </a:solidFill>
          <a:ln w="15240">
            <a:solidFill>
              <a:srgbClr val="EBE7E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52E"/>
                </a:solidFill>
              </a:rPr>
              <a:t>Dialog er ikke bare metode. Det er en måte å la innhold, erfaring og forståelse møtes på.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6446520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37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Overgang til del 2: dialog og innhold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73152"/>
            <a:ext cx="12045391" cy="6711696"/>
          </a:xfrm>
          <a:prstGeom prst="rect">
            <a:avLst/>
          </a:prstGeom>
          <a:solidFill>
            <a:srgbClr val="F7F6F4">
              <a:alpha val="0"/>
            </a:srgbClr>
          </a:solidFill>
          <a:ln w="25400">
            <a:solidFill>
              <a:srgbClr val="6C63D9">
                <a:alpha val="5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029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225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Sokrates: spørsmål som gjør tenkning synlig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124712"/>
            <a:ext cx="2240280" cy="32004"/>
          </a:xfrm>
          <a:prstGeom prst="rect">
            <a:avLst/>
          </a:prstGeom>
          <a:solidFill>
            <a:srgbClr val="2CA7A3"/>
          </a:solidFill>
          <a:ln w="12700">
            <a:solidFill>
              <a:srgbClr val="2CA7A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5331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37780"/>
                </a:solidFill>
              </a:rPr>
              <a:t>Poenget er ikke å kopiere Sokrates. Poenget er å se hva spørsmål kan gjøre.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3429000" cy="3611880"/>
          </a:xfrm>
          <a:prstGeom prst="rect">
            <a:avLst/>
          </a:prstGeom>
          <a:solidFill>
            <a:srgbClr val="FFFFFF"/>
          </a:solidFill>
          <a:ln w="15240">
            <a:solidFill>
              <a:srgbClr val="D7D1CB"/>
            </a:solidFill>
          </a:ln>
        </p:spPr>
        <p:txBody>
          <a:bodyPr wrap="square" lIns="2794" tIns="2794" rIns="2794" bIns="2794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22252E"/>
                </a:solidFill>
              </a:rPr>
              <a:t>I Menon gir ikke Sokrates gutten svaret.</a:t>
            </a:r>
            <a:endParaRPr lang="en-US" sz="2000" dirty="0"/>
          </a:p>
          <a:p>
            <a:pPr algn="l" indent="0" marL="0">
              <a:buNone/>
            </a:pP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22252E"/>
                </a:solidFill>
              </a:rPr>
              <a:t>Han lar en antakelse bli formulert, prøvd og undersøkt.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617720" y="1965960"/>
            <a:ext cx="1417320" cy="1325880"/>
          </a:xfrm>
          <a:prstGeom prst="rect">
            <a:avLst/>
          </a:prstGeom>
          <a:solidFill>
            <a:srgbClr val="E4F5F4"/>
          </a:solidFill>
          <a:ln w="15240">
            <a:solidFill>
              <a:srgbClr val="2CA7A3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252E"/>
                </a:solidFill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617720" y="3456432"/>
            <a:ext cx="14173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3F434A"/>
                </a:solidFill>
              </a:rPr>
              <a:t>Formuler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3F434A"/>
                </a:solidFill>
              </a:rPr>
              <a:t>en antakelse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46520" y="1965960"/>
            <a:ext cx="1417320" cy="1325880"/>
          </a:xfrm>
          <a:prstGeom prst="rect">
            <a:avLst/>
          </a:prstGeom>
          <a:solidFill>
            <a:srgbClr val="FFF6D5"/>
          </a:solidFill>
          <a:ln w="15240">
            <a:solidFill>
              <a:srgbClr val="F0BF0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252E"/>
                </a:solidFill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446520" y="3456432"/>
            <a:ext cx="14173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3F434A"/>
                </a:solidFill>
              </a:rPr>
              <a:t>Prøv den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3F434A"/>
                </a:solidFill>
              </a:rPr>
              <a:t>ut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275320" y="1965960"/>
            <a:ext cx="1417320" cy="1325880"/>
          </a:xfrm>
          <a:prstGeom prst="rect">
            <a:avLst/>
          </a:prstGeom>
          <a:solidFill>
            <a:srgbClr val="E4F5F4"/>
          </a:solidFill>
          <a:ln w="15240">
            <a:solidFill>
              <a:srgbClr val="2CA7A3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252E"/>
                </a:solidFill>
              </a:rPr>
              <a:t>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275320" y="3456432"/>
            <a:ext cx="14173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3F434A"/>
                </a:solidFill>
              </a:rPr>
              <a:t>Se hva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3F434A"/>
                </a:solidFill>
              </a:rPr>
              <a:t>som ikke holder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0104120" y="1965960"/>
            <a:ext cx="1417320" cy="1325880"/>
          </a:xfrm>
          <a:prstGeom prst="rect">
            <a:avLst/>
          </a:prstGeom>
          <a:solidFill>
            <a:srgbClr val="FFF6D5"/>
          </a:solidFill>
          <a:ln w="15240">
            <a:solidFill>
              <a:srgbClr val="F0BF0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252E"/>
                </a:solidFill>
              </a:rPr>
              <a:t>4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0104120" y="3456432"/>
            <a:ext cx="14173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3F434A"/>
                </a:solidFill>
              </a:rPr>
              <a:t>Tenk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3F434A"/>
                </a:solidFill>
              </a:rPr>
              <a:t>videre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617720" y="4709160"/>
            <a:ext cx="6903720" cy="868680"/>
          </a:xfrm>
          <a:prstGeom prst="rect">
            <a:avLst/>
          </a:prstGeom>
          <a:solidFill>
            <a:srgbClr val="EBE7E2"/>
          </a:solidFill>
          <a:ln w="15240">
            <a:solidFill>
              <a:srgbClr val="EBE7E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22252E"/>
                </a:solidFill>
              </a:rPr>
              <a:t>I en dialog blir tenkningen synlig nok til at den kan undersøkes sammen.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0080" y="6446520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37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Platon, 2014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73152"/>
            <a:ext cx="12045391" cy="6711696"/>
          </a:xfrm>
          <a:prstGeom prst="rect">
            <a:avLst/>
          </a:prstGeom>
          <a:solidFill>
            <a:srgbClr val="F7F6F4">
              <a:alpha val="0"/>
            </a:srgbClr>
          </a:solidFill>
          <a:ln w="25400">
            <a:solidFill>
              <a:srgbClr val="6C63D9">
                <a:alpha val="5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029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225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Hva gjør en samtale til dialog?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124712"/>
            <a:ext cx="2240280" cy="32004"/>
          </a:xfrm>
          <a:prstGeom prst="rect">
            <a:avLst/>
          </a:prstGeom>
          <a:solidFill>
            <a:srgbClr val="D65BA0"/>
          </a:solidFill>
          <a:ln w="12700">
            <a:solidFill>
              <a:srgbClr val="D65B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5331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37780"/>
                </a:solidFill>
              </a:rPr>
              <a:t>Mye prat er ikke nok. Kvaliteten ligger i hvordan bidragene brukes.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384048" cy="384048"/>
          </a:xfrm>
          <a:prstGeom prst="rect">
            <a:avLst/>
          </a:prstGeom>
          <a:solidFill>
            <a:srgbClr val="2CA7A3"/>
          </a:solidFill>
          <a:ln>
            <a:solidFill>
              <a:srgbClr val="2CA7A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874520"/>
            <a:ext cx="9875520" cy="914400"/>
          </a:xfrm>
          <a:prstGeom prst="rect">
            <a:avLst/>
          </a:prstGeom>
          <a:solidFill>
            <a:srgbClr val="E4F5F4"/>
          </a:solidFill>
          <a:ln w="15240">
            <a:solidFill>
              <a:srgbClr val="2CA7A3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2252E"/>
                </a:solidFill>
              </a:rPr>
              <a:t>Deltakerne får bringe inn egne erfaringer, spørsmål og fortolkninger.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22960" y="3337560"/>
            <a:ext cx="384048" cy="384048"/>
          </a:xfrm>
          <a:prstGeom prst="rect">
            <a:avLst/>
          </a:prstGeom>
          <a:solidFill>
            <a:srgbClr val="F0BF00"/>
          </a:solidFill>
          <a:ln>
            <a:solidFill>
              <a:srgbClr val="F0BF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3108960"/>
            <a:ext cx="9875520" cy="914400"/>
          </a:xfrm>
          <a:prstGeom prst="rect">
            <a:avLst/>
          </a:prstGeom>
          <a:solidFill>
            <a:srgbClr val="FFF6D5"/>
          </a:solidFill>
          <a:ln w="15240">
            <a:solidFill>
              <a:srgbClr val="F0BF00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2252E"/>
                </a:solidFill>
              </a:rPr>
              <a:t>Bidragene blir tatt opp og får betydning for hvordan samtalen utvikler seg.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22960" y="4572000"/>
            <a:ext cx="384048" cy="384048"/>
          </a:xfrm>
          <a:prstGeom prst="rect">
            <a:avLst/>
          </a:prstGeom>
          <a:solidFill>
            <a:srgbClr val="D65BA0"/>
          </a:solidFill>
          <a:ln>
            <a:solidFill>
              <a:srgbClr val="D65B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4343400"/>
            <a:ext cx="9875520" cy="914400"/>
          </a:xfrm>
          <a:prstGeom prst="rect">
            <a:avLst/>
          </a:prstGeom>
          <a:solidFill>
            <a:srgbClr val="FCEAF3"/>
          </a:solidFill>
          <a:ln w="15240">
            <a:solidFill>
              <a:srgbClr val="D65BA0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2252E"/>
                </a:solidFill>
              </a:rPr>
              <a:t>Forståelse undersøkes, prøves og utvikles i samtalen.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60120" y="5623560"/>
            <a:ext cx="10287000" cy="640080"/>
          </a:xfrm>
          <a:prstGeom prst="rect">
            <a:avLst/>
          </a:prstGeom>
          <a:solidFill>
            <a:srgbClr val="EBE7E2"/>
          </a:solidFill>
          <a:ln w="15240">
            <a:solidFill>
              <a:srgbClr val="EBE7E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52E"/>
                </a:solidFill>
              </a:rPr>
              <a:t>Dialog handler om å arbeide med innholdet sammen, ikke bare å veksle på å snakke.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6446520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37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Howe, Hennessy, Mercer, Vrikki &amp; Wheatley, 2019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73152"/>
            <a:ext cx="12045391" cy="6711696"/>
          </a:xfrm>
          <a:prstGeom prst="rect">
            <a:avLst/>
          </a:prstGeom>
          <a:solidFill>
            <a:srgbClr val="F7F6F4">
              <a:alpha val="0"/>
            </a:srgbClr>
          </a:solidFill>
          <a:ln w="25400">
            <a:solidFill>
              <a:srgbClr val="6C63D9">
                <a:alpha val="5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029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225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Prøv dialogen: hobbyoppgaven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124712"/>
            <a:ext cx="2240280" cy="32004"/>
          </a:xfrm>
          <a:prstGeom prst="rect">
            <a:avLst/>
          </a:prstGeom>
          <a:solidFill>
            <a:srgbClr val="F0BF00"/>
          </a:solidFill>
          <a:ln w="12700">
            <a:solidFill>
              <a:srgbClr val="F0BF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5331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37780"/>
                </a:solidFill>
              </a:rPr>
              <a:t>Du har et innhold du kjenner godt. Den andre kjenner det kanskje ikke ennå.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3383280" cy="3566160"/>
          </a:xfrm>
          <a:prstGeom prst="rect">
            <a:avLst/>
          </a:prstGeom>
          <a:solidFill>
            <a:srgbClr val="FFFFFF"/>
          </a:solidFill>
          <a:ln w="15240">
            <a:solidFill>
              <a:srgbClr val="D7D1CB"/>
            </a:solidFill>
          </a:ln>
        </p:spPr>
        <p:txBody>
          <a:bodyPr wrap="square" lIns="2794" tIns="2794" rIns="2794" bIns="2794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22252E"/>
                </a:solidFill>
              </a:rPr>
              <a:t>Oppgave</a:t>
            </a:r>
            <a:endParaRPr lang="en-US" sz="2000" dirty="0"/>
          </a:p>
          <a:p>
            <a:pPr algn="l" indent="0" marL="0">
              <a:buNone/>
            </a:pP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22252E"/>
                </a:solidFill>
              </a:rPr>
              <a:t>Fortell om en hobby eller interesse, men ikke hold et lite foredrag.</a:t>
            </a:r>
            <a:endParaRPr lang="en-US" sz="2000" dirty="0"/>
          </a:p>
          <a:p>
            <a:pPr algn="l" indent="0" marL="0">
              <a:buNone/>
            </a:pP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22252E"/>
                </a:solidFill>
              </a:rPr>
              <a:t>Prøv å åpne innholdet gjennom samtale.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617720" y="1874520"/>
            <a:ext cx="6720840" cy="594360"/>
          </a:xfrm>
          <a:prstGeom prst="rect">
            <a:avLst/>
          </a:prstGeom>
          <a:solidFill>
            <a:srgbClr val="FFF6D5"/>
          </a:solidFill>
          <a:ln w="15240">
            <a:solidFill>
              <a:srgbClr val="F0BF0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22252E"/>
                </a:solidFill>
              </a:rPr>
              <a:t>Hva spør du om?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617720" y="2697480"/>
            <a:ext cx="6720840" cy="594360"/>
          </a:xfrm>
          <a:prstGeom prst="rect">
            <a:avLst/>
          </a:prstGeom>
          <a:solidFill>
            <a:srgbClr val="E4F5F4"/>
          </a:solidFill>
          <a:ln w="15240">
            <a:solidFill>
              <a:srgbClr val="2CA7A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22252E"/>
                </a:solidFill>
              </a:rPr>
              <a:t>Hva lytter du etter?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617720" y="3520440"/>
            <a:ext cx="6720840" cy="594360"/>
          </a:xfrm>
          <a:prstGeom prst="rect">
            <a:avLst/>
          </a:prstGeom>
          <a:solidFill>
            <a:srgbClr val="FFF6D5"/>
          </a:solidFill>
          <a:ln w="15240">
            <a:solidFill>
              <a:srgbClr val="F0BF0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22252E"/>
                </a:solidFill>
              </a:rPr>
              <a:t>Hva gjør du med det den andre bringer inn?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617720" y="4343400"/>
            <a:ext cx="6720840" cy="594360"/>
          </a:xfrm>
          <a:prstGeom prst="rect">
            <a:avLst/>
          </a:prstGeom>
          <a:solidFill>
            <a:srgbClr val="E4F5F4"/>
          </a:solidFill>
          <a:ln w="15240">
            <a:solidFill>
              <a:srgbClr val="2CA7A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22252E"/>
                </a:solidFill>
              </a:rPr>
              <a:t>Når merker du at samtalen åpner seg?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617720" y="5349240"/>
            <a:ext cx="6720840" cy="640080"/>
          </a:xfrm>
          <a:prstGeom prst="rect">
            <a:avLst/>
          </a:prstGeom>
          <a:solidFill>
            <a:srgbClr val="EBE7E2"/>
          </a:solidFill>
          <a:ln w="15240">
            <a:solidFill>
              <a:srgbClr val="EBE7E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52E"/>
                </a:solidFill>
              </a:rPr>
              <a:t>Poenget er ikke hobbyen. Poenget er hvordan et innhold kan åpnes for en annen.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6446520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37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Dialogøvelse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73152"/>
            <a:ext cx="12045391" cy="6711696"/>
          </a:xfrm>
          <a:prstGeom prst="rect">
            <a:avLst/>
          </a:prstGeom>
          <a:solidFill>
            <a:srgbClr val="F7F6F4">
              <a:alpha val="0"/>
            </a:srgbClr>
          </a:solidFill>
          <a:ln w="25400">
            <a:solidFill>
              <a:srgbClr val="6C63D9">
                <a:alpha val="5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029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225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Hva skjedde i samtalen?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124712"/>
            <a:ext cx="2240280" cy="32004"/>
          </a:xfrm>
          <a:prstGeom prst="rect">
            <a:avLst/>
          </a:prstGeom>
          <a:solidFill>
            <a:srgbClr val="E8793C"/>
          </a:solidFill>
          <a:ln w="12700">
            <a:solidFill>
              <a:srgbClr val="E879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5331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37780"/>
                </a:solidFill>
              </a:rPr>
              <a:t>Bruk erfaringen fra hobbyoppgaven til å se hva dialog kan gjøre.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10607040" cy="530352"/>
          </a:xfrm>
          <a:prstGeom prst="rect">
            <a:avLst/>
          </a:prstGeom>
          <a:solidFill>
            <a:srgbClr val="FFFFFF"/>
          </a:solidFill>
          <a:ln w="15240">
            <a:solidFill>
              <a:srgbClr val="D7D1C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2252E"/>
                </a:solidFill>
              </a:rPr>
              <a:t>Hva gjorde du for å åpne hobbyen din for den andre?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22960" y="2441448"/>
            <a:ext cx="10607040" cy="530352"/>
          </a:xfrm>
          <a:prstGeom prst="rect">
            <a:avLst/>
          </a:prstGeom>
          <a:solidFill>
            <a:srgbClr val="F3EEEA"/>
          </a:solidFill>
          <a:ln w="15240">
            <a:solidFill>
              <a:srgbClr val="D7D1C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2252E"/>
                </a:solidFill>
              </a:rPr>
              <a:t>Hva gjorde du med det den andre sa?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22960" y="3191256"/>
            <a:ext cx="10607040" cy="530352"/>
          </a:xfrm>
          <a:prstGeom prst="rect">
            <a:avLst/>
          </a:prstGeom>
          <a:solidFill>
            <a:srgbClr val="FFFFFF"/>
          </a:solidFill>
          <a:ln w="15240">
            <a:solidFill>
              <a:srgbClr val="D7D1C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2252E"/>
                </a:solidFill>
              </a:rPr>
              <a:t>Når gikk samtalen fra formidling til faktisk dialog?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22960" y="3941064"/>
            <a:ext cx="10607040" cy="530352"/>
          </a:xfrm>
          <a:prstGeom prst="rect">
            <a:avLst/>
          </a:prstGeom>
          <a:solidFill>
            <a:srgbClr val="F3EEEA"/>
          </a:solidFill>
          <a:ln w="15240">
            <a:solidFill>
              <a:srgbClr val="D7D1C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2252E"/>
                </a:solidFill>
              </a:rPr>
              <a:t>Hva fikk den andre mulighet til å spørre om, utfordre eller påvirke?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822960" y="4690872"/>
            <a:ext cx="10607040" cy="530352"/>
          </a:xfrm>
          <a:prstGeom prst="rect">
            <a:avLst/>
          </a:prstGeom>
          <a:solidFill>
            <a:srgbClr val="FFFFFF"/>
          </a:solidFill>
          <a:ln w="15240">
            <a:solidFill>
              <a:srgbClr val="D7D1C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2252E"/>
                </a:solidFill>
              </a:rPr>
              <a:t>Hva gjorde at samtalen stoppet opp eller åpnet seg?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60120" y="5779008"/>
            <a:ext cx="10287000" cy="658368"/>
          </a:xfrm>
          <a:prstGeom prst="rect">
            <a:avLst/>
          </a:prstGeom>
          <a:solidFill>
            <a:srgbClr val="FCEBE4"/>
          </a:solidFill>
          <a:ln w="15240">
            <a:solidFill>
              <a:srgbClr val="E8793C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ctr" indent="0" marL="0">
              <a:buNone/>
            </a:pPr>
            <a:r>
              <a:rPr lang="en-US" sz="1750" dirty="0">
                <a:solidFill>
                  <a:srgbClr val="22252E"/>
                </a:solidFill>
              </a:rPr>
              <a:t>Dette leder oss videre: Hvordan kan vi åpne et innhold, og samtidig gi den andre mulighet til å komme inn i det fra sitt ståsted?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640080" y="6446520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37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Overgang til dobbel åpning og Klafki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Dialog før dobbel åpning og Klafki</dc:title>
  <dc:subject>UDI fremlegg, dialogsekvens</dc:subject>
  <dc:creator>OpenAI</dc:creator>
  <cp:lastModifiedBy>OpenAI</cp:lastModifiedBy>
  <cp:revision>1</cp:revision>
  <dcterms:created xsi:type="dcterms:W3CDTF">2026-09-22T07:07:25Z</dcterms:created>
  <dcterms:modified xsi:type="dcterms:W3CDTF">2026-09-22T07:07:25Z</dcterms:modified>
</cp:coreProperties>
</file>